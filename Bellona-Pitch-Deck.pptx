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900" b="0" i="0" u="none" strike="noStrike">
                <a:solidFill>
                  <a:srgbClr val="94A3B8"/>
                </a:solidFill>
                <a:latin typeface="Arial"/>
              </a:rPr>
              <a:t>Monthly Revenue (K 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285</c:v>
                </c:pt>
                <c:pt idx="1">
                  <c:v>312</c:v>
                </c:pt>
                <c:pt idx="2">
                  <c:v>298</c:v>
                </c:pt>
                <c:pt idx="3">
                  <c:v>341</c:v>
                </c:pt>
                <c:pt idx="4">
                  <c:v>389</c:v>
                </c:pt>
                <c:pt idx="5">
                  <c:v>412</c:v>
                </c:pt>
                <c:pt idx="6">
                  <c:v>445</c:v>
                </c:pt>
                <c:pt idx="7">
                  <c:v>478</c:v>
                </c:pt>
                <c:pt idx="8">
                  <c:v>521</c:v>
                </c:pt>
                <c:pt idx="9">
                  <c:v>567</c:v>
                </c:pt>
                <c:pt idx="10">
                  <c:v>612</c:v>
                </c:pt>
                <c:pt idx="11">
                  <c:v>683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E3A5F"/>
            </a:solidFill>
            <a:ln w="3175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280</c:v>
                </c:pt>
                <c:pt idx="1">
                  <c:v>295</c:v>
                </c:pt>
                <c:pt idx="2">
                  <c:v>310</c:v>
                </c:pt>
                <c:pt idx="3">
                  <c:v>325</c:v>
                </c:pt>
                <c:pt idx="4">
                  <c:v>340</c:v>
                </c:pt>
                <c:pt idx="5">
                  <c:v>380</c:v>
                </c:pt>
                <c:pt idx="6">
                  <c:v>420</c:v>
                </c:pt>
                <c:pt idx="7">
                  <c:v>460</c:v>
                </c:pt>
                <c:pt idx="8">
                  <c:v>500</c:v>
                </c:pt>
                <c:pt idx="9">
                  <c:v>540</c:v>
                </c:pt>
                <c:pt idx="10">
                  <c:v>580</c:v>
                </c:pt>
                <c:pt idx="11">
                  <c:v>650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0D1E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5486400" cy="3657600"/>
          </a:xfrm>
          <a:prstGeom prst="ellipse">
            <a:avLst/>
          </a:prstGeom>
          <a:solidFill>
            <a:srgbClr val="0D3B2E">
              <a:alpha val="70000"/>
            </a:srgbClr>
          </a:solidFill>
          <a:ln w="12700">
            <a:solidFill>
              <a:srgbClr val="0D3B2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34D399"/>
                </a:solidFill>
              </a:rPr>
              <a:t>BELLONA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Operating System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Revenue Teams.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Automate prospecting, qualification, outreach, and deal execution — while your team focuses on closing.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2194560" cy="365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20617"/>
                </a:solidFill>
              </a:rPr>
              <a:t>REQUEST ACCESS →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0" y="1097280"/>
            <a:ext cx="192024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0" y="109728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161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995160" y="15727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More Qualified Leads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0" y="2194560"/>
            <a:ext cx="192024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0" y="219456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585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95160" y="2670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Saved Per Month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3291840"/>
            <a:ext cx="1920240" cy="868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3291840"/>
            <a:ext cx="54864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3558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3767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ROI on Investment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64748B"/>
                </a:solidFill>
              </a:rPr>
              <a:t>CONFIDENTIAL  ·  AI REVENUE INTELLIGENCE PLATFORM  ·  ENTERPRISE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Revenue Team Is Hemorrhaging Time and Pipeline.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97764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Time Wasted on Non-Selling Tasks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SDR‌ها بیش از سه‌چهارم روز کاری خود را صرف research، data entry، ایمیل‌نویسی و فالو‌آپ‌های دستی می‌کنند — نه فروش.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397764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71600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1,284h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83480" y="19385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Annual Hours Lost Per 5-Person Team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معادل ۷ ماه کامل کار انسانی که می‌توانست صرف بستن قراردادها شود. این رقم به‌طور مستقیم از pipeline شما کسر می‌شود.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7764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3630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Annual Revenue Left on the Table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هر ساعتی که یک SDR صرف وظایف تکراری می‌کند، فرصتی معادل ۱,۳۶۴ دلار pipeline از بین می‌رود — بدون اینکه اثری از آن در گزارش‌ها باشد.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3977640" cy="1463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063240"/>
            <a:ext cx="54864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83480" y="3630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 Hot Leads Never Re-Engaged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38862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سیستم‌های CRM سنتی نمی‌توانند تغییر رفتار خریدار را تشخیص دهند. نتیجه؟ ۹۴٪ از لیدهایی که یک‌بار سرد شده‌اند، هیچ‌وقت با timing مناسب دوباره follow-up نمی‌شوند.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THE 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Bellona: یک سیستم عامل هوش مصنوعی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کامل برای تیم درآمدزا.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Bellona نه یک chatbot است و نه یک ابزار اتوماسیون ساده. این پلتفرم یک infrastructure کامل برای عملیات درآمدی است که شامل ۶ عامل هوش مصنوعی تخصصی، یک knowledge graph یکپارچه از تمام داده‌های شرکت، و یک pipeline اجرایی ۹ مرحله‌ای می‌شود — همه به‌صورت real-time و با قابلیت توضیح‌پذیری کامل.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51760" cy="23317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468880"/>
            <a:ext cx="26517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670048"/>
            <a:ext cx="1005840" cy="201168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670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A78BFA"/>
                </a:solidFill>
              </a:rPr>
              <a:t>Company Brain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1792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1792" y="33375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تمام داده‌های شرکت — CRM، ایمیل، تماس، وب‌سایت مشتریان، اخبار رقبا — در یک knowledge graph زنده ادغام می‌شوند. هر سوالی را می‌توانید به زبان طبیعی بپرسید و در کمتر از ۱ ثانیه پاسخ بگیرید.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2468880"/>
            <a:ext cx="2651760" cy="23317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468880"/>
            <a:ext cx="2651760" cy="411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2670048"/>
            <a:ext cx="1005840" cy="201168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670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4D399"/>
                </a:solidFill>
              </a:rPr>
              <a:t>Live Workflow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02152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02152" y="33375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از اولین تماس تا بستن قرارداد، ۹ مرحله کاملاً خودکار اجرا می‌شود. هر lead به‌طور مستقل توسط عوامل AI research، qualify، outreach و nurture می‌شود — بدون دخالت انسانی.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651760" cy="23317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468880"/>
            <a:ext cx="2651760" cy="411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2670048"/>
            <a:ext cx="1005840" cy="201168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26700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60A5FA"/>
                </a:solidFill>
              </a:rPr>
              <a:t>Executive Dashboard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82512" y="29718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 Layer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82512" y="333756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یک داشبورد CEO-grade با forecast real-time، تحلیل ROI، و هشدارهای هوشمند. هر تصمیم بر پایه داده است، نه حدس. دقت پیش‌بینی: ۹۴.۷٪.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AI AGENTS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۶ عامل هوش مصنوعی تخصصی — ۲۴ ساعت در شبانه‌روز، ۷ روز هفته.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هر عامل برای یک وظیفه مشخص طراحی، آموزش‌دیده و بهینه‌شده است. آن‌ها به‌صورت موازی کار می‌کنند، با یکدیگر ارتباط برقرار می‌کنند و نتایج را به تیم انسانی تحویل می‌دهند.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6916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91640"/>
            <a:ext cx="50292" cy="14447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2064" y="20391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Lead Intelligence Agent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2064" y="22585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2350008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62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اسکن real-time LinkedIn، وب‌سایت و اخبار برای شناسایی buying signals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12064" y="2587752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40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امتیازدهی به لیدها بر اساس ۴۷ متغیر رفتاری و firmographic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512064" y="2825496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117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تشخیص زمان بهینه برای تماس اول با دقت ۸۹٪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273552" y="16916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73552" y="1691640"/>
            <a:ext cx="50292" cy="14447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38144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38144" y="20391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Pipeline Intelligence Agent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38144" y="22585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2350008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3362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تحلیل عمق pipeline و شناسایی deals در معرض خطر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438144" y="2587752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5740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پیش‌بینی احتمال بستن قرارداد با confidence interval ±۳٪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438144" y="2825496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28117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هشدار خودکار برای هر تغییر معنادار در رفتار خریدار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199632" y="32918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99632" y="3291840"/>
            <a:ext cx="50292" cy="14447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64224" y="36393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Personalized Outreach Agent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364224" y="38587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3950208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9364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تولید ایمیل‌های hyper-personalized بر اساس context کامل هر لید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364224" y="4187952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1742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طراحی توالی ۲۳ نقطه‌ای outreach با channel mix بهینه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364224" y="4425696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4119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A/B testing خودکار و یادگیری مستمر از نرخ پاسخ‌دهی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47472" y="32918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" y="3291840"/>
            <a:ext cx="50292" cy="14447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VANCE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12064" y="36393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Revenue Forecasting Agent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12064" y="38587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" y="3950208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39364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مدل‌سازی سه سناریوی درآمدی (بدبینانه، پایه، خوش‌بینانه)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12064" y="4187952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1742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به‌روزرسانی real-time forecast بر اساس سیگنال‌های بازار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12064" y="4425696"/>
            <a:ext cx="59436" cy="594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119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شناسایی ریسک‌های Q4 هفت هفته قبل از وقوع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273552" y="48920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73552" y="4892040"/>
            <a:ext cx="50292" cy="14447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38144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3438144" y="52395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Competitive Intelligence Agent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38144" y="54589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38144" y="5550408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55366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پایش مداوم قیمت‌گذاری، محصولات و استخدام رقبا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3438144" y="5788152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0" y="57744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شناسایی حساب‌هایی که رقیب در حال نفوذ به آن‌هاست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438144" y="6025896"/>
            <a:ext cx="59436" cy="594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66160" y="60121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battle card خودکار برای هر فرصت فروش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199632" y="4892040"/>
            <a:ext cx="2743200" cy="1444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99632" y="4892040"/>
            <a:ext cx="50292" cy="14447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364224" y="523951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Deal Execution Agent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364224" y="5458968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64224" y="5550408"/>
            <a:ext cx="59436" cy="594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92240" y="55366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اتوماسیون کامل workflow از discovery تا contract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6364224" y="5788152"/>
            <a:ext cx="59436" cy="594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92240" y="577443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کاهش چرخه فروش از ۴.۲ روز به ۱۸ ساعت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364224" y="6025896"/>
            <a:ext cx="59436" cy="594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60121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</a:rPr>
              <a:t>یکپارچه‌سازی real-time با CRM، calendar و ابزارهای امضا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AUTOMATED 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از لید تا قرارداد: ۹ مرحله کاملاً خودکار.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هر lead به‌طور مستقل از ابتدا تا انتها توسط عوامل AI هدایت می‌شود. تیم انسانی فقط در مراحل استراتژیک دخالت می‌کند.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1600200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600200"/>
            <a:ext cx="278892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91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" y="1965960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9659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4D399"/>
                </a:solidFill>
              </a:rPr>
              <a:t>ARIA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24712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Harvesting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4712" y="1965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2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جمع‌آوری داده از ۴۰+ منبع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36392" y="2048256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600200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600200"/>
            <a:ext cx="278892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691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29000" y="1965960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9659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4D399"/>
                </a:solidFill>
              </a:rPr>
              <a:t>ARIA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0690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Lead Scoring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69080" y="1965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8 sec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9080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امتیازدهی با ۴۷ متغیر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2048256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1600200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1600200"/>
            <a:ext cx="278892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1691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73368" y="1965960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19659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60A5FA"/>
                </a:solidFill>
              </a:rPr>
              <a:t>NEXUS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7013448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ICP Qualification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13448" y="1965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15 sec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13448" y="2167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تطابق با پروفایل ایده‌آل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2715768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2715768"/>
            <a:ext cx="27889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28072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84632" y="3081528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30815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22D3EE"/>
                </a:solidFill>
              </a:rPr>
              <a:t>SIGIL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24712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 Detection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24712" y="30815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</a:rPr>
              <a:t>1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" y="32826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تشخیص سیگنال خرید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36392" y="3163824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2715768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91840" y="2715768"/>
            <a:ext cx="27889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28072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3429000" y="3081528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30815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A78BFA"/>
                </a:solidFill>
              </a:rPr>
              <a:t>ECHO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069080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Personalization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069080" y="30815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45 sec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069080" y="32826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شخصی‌سازی محتوای تماس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080760" y="3163824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36208" y="2715768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36208" y="2715768"/>
            <a:ext cx="27889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80720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373368" y="3081528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3368" y="308152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A78BFA"/>
                </a:solidFill>
              </a:rPr>
              <a:t>ECHO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7013448" y="28072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Multi-Ch. Outreach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013448" y="30815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Auto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13448" y="32826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۲۳-لمسی omnichannel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47472" y="3831336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47472" y="3831336"/>
            <a:ext cx="278892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484632" y="4197096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" y="41970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472B6"/>
                </a:solidFill>
              </a:rPr>
              <a:t>FLUX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24712" y="3922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Meeting Booking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124712" y="41970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</a:rPr>
              <a:t>Real-time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4712" y="4398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بوکینگ خودکار جلسه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136392" y="4279392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91840" y="3831336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91840" y="3831336"/>
            <a:ext cx="278892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29000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69" name="Shape 67"/>
          <p:cNvSpPr/>
          <p:nvPr/>
        </p:nvSpPr>
        <p:spPr>
          <a:xfrm>
            <a:off x="3429000" y="4197096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29000" y="41970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472B6"/>
                </a:solidFill>
              </a:rPr>
              <a:t>FLUX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4069080" y="3922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Deal Orchestration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069080" y="41970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72B6"/>
                </a:solidFill>
              </a:rPr>
              <a:t>18h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069080" y="4398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هماهنگی کامل معامله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080760" y="4279392"/>
            <a:ext cx="155448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36208" y="3831336"/>
            <a:ext cx="278892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36208" y="3831336"/>
            <a:ext cx="278892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73368" y="39227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6373368" y="4197096"/>
            <a:ext cx="548640" cy="182880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73368" y="419709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BBF24"/>
                </a:solidFill>
              </a:rPr>
              <a:t>VANCE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013448" y="39227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CRM &amp; Reporting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7013448" y="419709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BF24"/>
                </a:solidFill>
              </a:rPr>
              <a:t>Instant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013448" y="439826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ثبت و گزارش‌دهی real-time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A78BFA"/>
                </a:solidFill>
              </a:rPr>
              <a:t>COMPANY BRAIN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برای داده‌های درآمدی شما.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749040" cy="35204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53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چطور کار می‌کند؟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Company Brain تمام داده‌های شرکت شما را به یک knowledge graph زنده تبدیل می‌کند. منابع داده شامل: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2304288"/>
            <a:ext cx="73152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905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CRM (Salesforce, HubSpot)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73152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48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ایمیل و تقویم (Gmail, Outlook)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2852928"/>
            <a:ext cx="7315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3921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تماس‌ها (Gong, Chorus, Zoom)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7315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135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LinkedIn + وب‌سایت مشتریان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73152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785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اخبار و رویدادهای صنعت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73152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621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داده‌های intent (G2, Bombora)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950208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649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فایل‌های داخلی و مستندات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1188720"/>
            <a:ext cx="4389120" cy="35204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188720"/>
            <a:ext cx="438912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353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نمونه سوال‌های واقعی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1783080"/>
            <a:ext cx="3931920" cy="274320"/>
          </a:xfrm>
          <a:prstGeom prst="rect">
            <a:avLst/>
          </a:prstGeom>
          <a:solidFill>
            <a:srgbClr val="0D2B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801368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A5FA"/>
                </a:solidFill>
              </a:rPr>
              <a:t>"کدام لیدها این هفته از رقبا سوال پرسیده‌اند؟"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21122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۸ حساب شناسایی شد — SIGIL battle card آماده کرده و ECHO sequence فعال‌سازی شد.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2542032"/>
            <a:ext cx="3931920" cy="274320"/>
          </a:xfrm>
          <a:prstGeom prst="rect">
            <a:avLst/>
          </a:prstGeom>
          <a:solidFill>
            <a:srgbClr val="0D2B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60320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A5FA"/>
                </a:solidFill>
              </a:rPr>
              <a:t>"احتمال رسیدن به quota Q4 چقدر است؟"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287121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۸۷٪ احتمال — با سناریوی محافظه‌کارانه $۴.۲M. ریسک اصلی: ۳ deal در stage 6 stall شده.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3300984"/>
            <a:ext cx="3931920" cy="274320"/>
          </a:xfrm>
          <a:prstGeom prst="rect">
            <a:avLst/>
          </a:prstGeom>
          <a:solidFill>
            <a:srgbClr val="0D2B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319272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A5FA"/>
                </a:solidFill>
              </a:rPr>
              <a:t>"بهترین زمان برای contact کردن TechCorp Global؟"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363016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سه‌شنبه‌ها ساعت ۱۰-۱۱ صبح. CFO آن‌ها امروز یک مقاله درباره cost reduction منتشر کرده.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17720" y="4059936"/>
            <a:ext cx="3931920" cy="274320"/>
          </a:xfrm>
          <a:prstGeom prst="rect">
            <a:avLst/>
          </a:prstGeom>
          <a:solidFill>
            <a:srgbClr val="0D2B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078224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A5FA"/>
                </a:solidFill>
              </a:rPr>
              <a:t>"چرا Pinnacle Ventures deal ما را slow کرده؟"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43891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بودجه Q3 آن‌ها ۱۵٪ کاهش یافته. پیشنهاد: پیشنهاد phased payment ارائه شود.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60A5FA"/>
                </a:solidFill>
              </a:rPr>
              <a:t>EXECUTIVE DASHBOARD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هر صبح، تمام اطلاعاتی که برای تصمیم‌گیری نیاز دارید.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196596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07008"/>
            <a:ext cx="19659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$5.04M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 Pipeline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+$240K vs last week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96312" y="1207008"/>
            <a:ext cx="196596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1207008"/>
            <a:ext cx="196596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298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33472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Hours Saved / Mo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3472" y="1956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+63h from automation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26864" y="1207008"/>
            <a:ext cx="196596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1207008"/>
            <a:ext cx="19659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298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94.7%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64024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Forecast Accuracy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1956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↑ از ۷۱٪ قبل از Bellona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57416" y="1207008"/>
            <a:ext cx="1965960" cy="10058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57416" y="1207008"/>
            <a:ext cx="19659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2984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94576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ROI on Investment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94576" y="1956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محاسبه شده روی ۶ ماه</a:t>
            </a:r>
            <a:endParaRPr lang="en-US" sz="7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65760" y="2377440"/>
          <a:ext cx="5303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5943600" y="2377440"/>
            <a:ext cx="2834640" cy="242316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26480" y="24871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Conversion Funnel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26480" y="28529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Prospecting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065008" y="285292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1284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126480" y="3054096"/>
            <a:ext cx="246888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3054096"/>
            <a:ext cx="246888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32278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Qualified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065008" y="32278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847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126480" y="3429000"/>
            <a:ext cx="246888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6480" y="3429000"/>
            <a:ext cx="1629461" cy="91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360273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Demo/Proposal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065008" y="360273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412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126480" y="3803904"/>
            <a:ext cx="246888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26480" y="3803904"/>
            <a:ext cx="790042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39776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Negotiation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065008" y="39776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178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126480" y="4178808"/>
            <a:ext cx="246888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126480" y="4178808"/>
            <a:ext cx="345643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6480" y="43525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Closed Won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065008" y="43525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47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126480" y="4553712"/>
            <a:ext cx="2468880" cy="914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126480" y="4553712"/>
            <a:ext cx="98755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BBF24"/>
                </a:solidFill>
              </a:rPr>
              <a:t>AI BUSINESS AUDIT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قبل از هر چیز: ببینید کجا دارید پول از دست می‌دهید.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Bellona یک آنالیز عمیق ۵ بُعدی از کسب‌وکار شما انجام می‌دهد. نتیجه: یک نقشه دقیق از شکاف‌های درآمدی، اولویت‌بندی شده بر اساس ROI.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943600" cy="566928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5029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550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D+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89280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۷۳٪ وقت SDR صرف non-selling می‌شود. هیچ playbook استانداردی وجود ندارد.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77640" y="1691640"/>
            <a:ext cx="2148840" cy="109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1691640"/>
            <a:ext cx="730606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837944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7171"/>
                </a:solidFill>
              </a:rPr>
              <a:t>34/100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5943600" cy="566928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58568"/>
            <a:ext cx="5029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1343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" y="262432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F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34440" y="23225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 &amp; Demand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2551176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MQL به SQL conversion فقط ۱۲٪ است. Lead scoring کاملاً دستی و ذهنی.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77640" y="2350008"/>
            <a:ext cx="2148840" cy="109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2350008"/>
            <a:ext cx="601675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496312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7171"/>
                </a:solidFill>
              </a:rPr>
              <a:t>28/100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916936"/>
            <a:ext cx="5943600" cy="566928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16936"/>
            <a:ext cx="50292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71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02920" y="32826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</a:rPr>
              <a:t>D+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234440" y="29809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&amp; CRM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209544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۶۸٪ داده‌های CRM ناقص یا منسوخ است. هیچ workflow خودکاری وجود ندارد.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977640" y="3008376"/>
            <a:ext cx="2148840" cy="109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77640" y="3008376"/>
            <a:ext cx="1009955" cy="1097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3154680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47/100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575304"/>
            <a:ext cx="5943600" cy="566928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75304"/>
            <a:ext cx="5029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301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02920" y="394106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234440" y="3639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Success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34440" y="38679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هیچ سیستم early warning برای churn وجود ندارد. NPS واکنشی است نه پیشگیرانه.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77640" y="3666744"/>
            <a:ext cx="2148840" cy="109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77640" y="3666744"/>
            <a:ext cx="472745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813048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7171"/>
                </a:solidFill>
              </a:rPr>
              <a:t>22/100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233672"/>
            <a:ext cx="5943600" cy="566928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233672"/>
            <a:ext cx="5029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28853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02920" y="45994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F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234440" y="42976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Knowledge Management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34440" y="452628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دانش سازمانی پراکنده و غیرقابل جستجوست. onboarding ۴ ماه طول می‌کشد.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977640" y="4325112"/>
            <a:ext cx="2148840" cy="109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77640" y="4325112"/>
            <a:ext cx="386791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4471416"/>
            <a:ext cx="2148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7171"/>
                </a:solidFill>
              </a:rPr>
              <a:t>18/100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37960" y="1600200"/>
            <a:ext cx="2240280" cy="329184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37960" y="1600200"/>
            <a:ext cx="2240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171907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Overall Score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1993392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600" dirty="0"/>
          </a:p>
        </p:txBody>
      </p:sp>
      <p:sp>
        <p:nvSpPr>
          <p:cNvPr id="54" name="Text 52"/>
          <p:cNvSpPr/>
          <p:nvPr/>
        </p:nvSpPr>
        <p:spPr>
          <a:xfrm>
            <a:off x="6675120" y="26883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</a:rPr>
              <a:t>/100 — F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75120" y="2999232"/>
            <a:ext cx="182880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312724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1,284h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75120" y="34198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ساعت هدررفته/سال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675120" y="36576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6675120" y="3950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درآمد از دست رفته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675120" y="41879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91/100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6675120" y="44805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Opportunity Score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ROI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بازگشت سرمایه: ۱۴۰ برابر در ۶ ماه.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8412480" cy="329184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متریک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قبل از Bellona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با Bellona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بهبود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زمان qualifying هر لید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۴۵ دقیقه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۸ ثانیه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۳۳۷× سریع‌تر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نرخ تبدیل لید به meeting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۲.۱٪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۷.۴٪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+۲۵۲٪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چرخه فروش میانگین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۴.۲ روز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۱۸ ساعت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-۸۳٪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دقت 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۷۱٪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۹۴.۷٪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+۳۳٪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لید واجد شرایط در ماه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۳۱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۱۰۶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+۲۴۲٪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هزینه per acquired customer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$۸,۴۰۰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$۲,۱۰۰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-۷۵٪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Pipeline generated / ماه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$۴۲۰K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$۱.۴۴M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</a:rPr>
                        <a:t>+۲۴۳٪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D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سرمایه‌گذاری: $۳,۵۰۰/ماه  →  ارزش ایجاد شده: $۴۹۰,۰۰۰/ماه  →  ROI: 140×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VERIFIED RESULTS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نتایج واقعی از شرکت‌های مشابه.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356616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16736"/>
            <a:ext cx="1554480" cy="219456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167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</a:rPr>
              <a:t>SaaS B2B · ۲۵ نفر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0352" y="1664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چالش: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1847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تیم فروش ۵ نفره با CVR 1.8٪ و forecast accuracy 68٪. هر deal به‌طور میانگین ۶.۴ روز طول می‌کشید.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" y="2542032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1518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نتایج: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" y="2871216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8575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+$1.2M درآمد سالانه اضافه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" y="3218688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2049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CVR از 1.8٪ به 7.1٪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3566160"/>
            <a:ext cx="59436" cy="594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5524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deal cycle: 6.4 روز → 22 ساعت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3977640"/>
            <a:ext cx="2423160" cy="548640"/>
          </a:xfrm>
          <a:prstGeom prst="rect">
            <a:avLst/>
          </a:prstGeom>
          <a:solidFill>
            <a:srgbClr val="060D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977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در ۹۰ روز اول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1188720"/>
            <a:ext cx="2743200" cy="356616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188720"/>
            <a:ext cx="27432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56432" y="1316736"/>
            <a:ext cx="1554480" cy="219456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3167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</a:rPr>
              <a:t>Tech Startup · سری 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56432" y="1664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چالش: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56432" y="1847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pipeline پراکنده، بدون visibility. ۸۴٪ لیدها بعد از اولین تماس lost می‌شدند.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56432" y="2542032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61518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نتایج: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56432" y="2871216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8575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۸۴٪ کاهش lead drop-off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56432" y="3218688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2049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forecast accuracy از 61٪ به 92٪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56432" y="3566160"/>
            <a:ext cx="59436" cy="594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5524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۳.۴× بیشتر qualified meetings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56432" y="3977640"/>
            <a:ext cx="2423160" cy="548640"/>
          </a:xfrm>
          <a:prstGeom prst="rect">
            <a:avLst/>
          </a:prstGeom>
          <a:solidFill>
            <a:srgbClr val="060D1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3977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در ۶۰ روز اول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1188720"/>
            <a:ext cx="2743200" cy="356616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118872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2512" y="1316736"/>
            <a:ext cx="1554480" cy="219456"/>
          </a:xfrm>
          <a:prstGeom prst="rect">
            <a:avLst/>
          </a:prstGeom>
          <a:solidFill>
            <a:srgbClr val="060D1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13167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Enterprise SaaS · ۱۵۰ نفر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82512" y="1664208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چالش: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82512" y="1847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تیم فروش ۲۰ نفره با CRM داده‌های ناقص. ماهانه ۱,۴۸۰ ساعت صرف data entry می‌شد.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82512" y="2542032"/>
            <a:ext cx="242316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2615184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نتایج: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82512" y="2871216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9672" y="28575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۱,۴۸۰ ساعت data entry حذف شد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82512" y="3218688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32049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 acquisition cost: -68٪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82512" y="3566160"/>
            <a:ext cx="59436" cy="594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9672" y="35524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NRR از 104٪ به 127٪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82512" y="3977640"/>
            <a:ext cx="2423160" cy="548640"/>
          </a:xfrm>
          <a:prstGeom prst="rect">
            <a:avLst/>
          </a:prstGeom>
          <a:solidFill>
            <a:srgbClr val="060D1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9776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در ۱۲۰ روز اول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2D3EE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از امروز تا full deployment: ۴۸ ساعت.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بدون disruption به workflow فعلی شما. بدون نیاز به تیم فنی داخلی. بدون نیاز به migration داده.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011680" cy="3154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0116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D3EE"/>
                </a:solidFill>
              </a:rPr>
              <a:t>Phase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929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روز ۱ — ۴۸ ساعت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&amp; Integration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169164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79192"/>
            <a:ext cx="54864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60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AI Business Audit کامل روی داده‌های موجود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4864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36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اتصال به CRM، ایمیل، تقویم و ابزارهای فعلی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630168"/>
            <a:ext cx="54864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ساخت company knowledge graph اولیه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54864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873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آموزش عوامل AI روی الگوهای business شما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42032" y="1600200"/>
            <a:ext cx="2011680" cy="3154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032" y="1600200"/>
            <a:ext cx="20116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709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</a:rPr>
              <a:t>Phase 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79192" y="1929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هفته ۱-۲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79192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Activation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679192" y="2560320"/>
            <a:ext cx="169164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79192" y="2679192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2660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فعال‌سازی ARIA برای lead scoring و qualification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79192" y="3154680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136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راه‌اندازی ECHO برای personalized outreach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79192" y="3630168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3611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تنظیم SIGIL برای پایش رقبا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79192" y="4105656"/>
            <a:ext cx="54864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16352" y="40873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اولین pipeline خودکار در حال اجرا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18304" y="1600200"/>
            <a:ext cx="2011680" cy="3154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18304" y="1600200"/>
            <a:ext cx="20116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1709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8BFA"/>
                </a:solidFill>
              </a:rPr>
              <a:t>Phase 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55464" y="1929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هفته ۳-۴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55464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Deployment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55464" y="2560320"/>
            <a:ext cx="169164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55464" y="2679192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2660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فعال‌سازی کامل ۶ عامل AI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55464" y="3154680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136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Executive Dashboard با forecast live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55464" y="3630168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3611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آموزش تیم (max 2 ساعت)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55464" y="4105656"/>
            <a:ext cx="548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40873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اولین ROI report آماده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94576" y="1600200"/>
            <a:ext cx="2011680" cy="31546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94576" y="1600200"/>
            <a:ext cx="20116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31736" y="17099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BBF24"/>
                </a:solidFill>
              </a:rPr>
              <a:t>Ongoing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31736" y="1929384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ماه ۲ به بعد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31736" y="2194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Optimization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7031736" y="2560320"/>
            <a:ext cx="1691640" cy="1097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31736" y="2679192"/>
            <a:ext cx="54864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68896" y="2660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یادگیری مداوم از نتایج pipeline شما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31736" y="3154680"/>
            <a:ext cx="54864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68896" y="3136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به‌روزرسانی خودکار مدل‌ها هر هفته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031736" y="3630168"/>
            <a:ext cx="54864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68896" y="3611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گزارش ماهانه ROI + فرصت‌های جدید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031736" y="4105656"/>
            <a:ext cx="54864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68896" y="40873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Dedicated success manager + 24/7 support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SOC 2 Type II  ·  ISO 27001  ·  GDPR Compliant  ·  99.97% SLA  ·  SSO/SAML  ·  End-to-End Encryption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914400"/>
            <a:ext cx="5486400" cy="3657600"/>
          </a:xfrm>
          <a:prstGeom prst="ellipse">
            <a:avLst/>
          </a:prstGeom>
          <a:solidFill>
            <a:srgbClr val="0A2E1F">
              <a:alpha val="80000"/>
            </a:srgbClr>
          </a:solidFill>
          <a:ln w="12700">
            <a:solidFill>
              <a:srgbClr val="0A2E1F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34D399"/>
                </a:solidFill>
              </a:rPr>
              <a:t>NEXT STEPS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آماده‌اید درآمد خود را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سیستماتیک کنید؟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دو مسیر برای شروع: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3657600" cy="1920240"/>
          </a:xfrm>
          <a:prstGeom prst="rect">
            <a:avLst/>
          </a:prstGeom>
          <a:solidFill>
            <a:srgbClr val="0D2B1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AI Business Audit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یک آنالیز رایگان ۵ بُعدی از کسب‌وکار شما. ظرف ۴۸ ساعت گزارش کامل دریافت می‌کنید — شامل دقیقاً چقدر pipeline دارید از دست می‌دهید و چطور بازیابی کنید.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24128" y="3840480"/>
            <a:ext cx="2011680" cy="320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شروع Audit رایگان 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2395728"/>
            <a:ext cx="3657600" cy="1920240"/>
          </a:xfrm>
          <a:prstGeom prst="rect">
            <a:avLst/>
          </a:prstGeom>
          <a:solidFill>
            <a:srgbClr val="0A1E35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01768" y="2560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Demo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2926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یک session ۴۵ دقیقه‌ای با تیم ما. Bellona را روی داده‌های واقعی شرکت شما راه‌اندازی می‌کنیم و نتایج را real-time نشان می‌دهیم. بدون commitment.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01768" y="3840480"/>
            <a:ext cx="2011680" cy="320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0617"/>
                </a:solidFill>
              </a:rPr>
              <a:t>Book Enterprise Demo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D1F"/>
          </a:solidFill>
          <a:ln w="12700">
            <a:solidFill>
              <a:srgbClr val="060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bellona.ai  ·  Custom enterprise agreements  ·  48-hour deployment  ·  Dedicated success manager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Bellona — AI Revenue Department</dc:title>
  <dc:subject>PptxGenJS Presentation</dc:subject>
  <dc:creator>Bellona</dc:creator>
  <cp:lastModifiedBy>Bellona</cp:lastModifiedBy>
  <cp:revision>1</cp:revision>
  <dcterms:created xsi:type="dcterms:W3CDTF">2026-06-07T11:11:27Z</dcterms:created>
  <dcterms:modified xsi:type="dcterms:W3CDTF">2026-06-07T11:11:27Z</dcterms:modified>
</cp:coreProperties>
</file>